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Helvetica World" charset="1" panose="020B0500040000020004"/>
      <p:regular r:id="rId26"/>
    </p:embeddedFont>
    <p:embeddedFont>
      <p:font typeface="Georgia Pro Condensed" charset="1" panose="02040506050405020303"/>
      <p:regular r:id="rId27"/>
    </p:embeddedFont>
    <p:embeddedFont>
      <p:font typeface="Helvetica World Bold" charset="1" panose="020B080004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FB8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-6000">
              <a:off x="-1059" y="-663"/>
              <a:ext cx="816842" cy="1269275"/>
            </a:xfrm>
            <a:custGeom>
              <a:avLst/>
              <a:gdLst/>
              <a:ahLst/>
              <a:cxnLst/>
              <a:rect r="r" b="b" t="t" l="l"/>
              <a:pathLst>
                <a:path h="1269275" w="816842">
                  <a:moveTo>
                    <a:pt x="29080" y="0"/>
                  </a:moveTo>
                  <a:lnTo>
                    <a:pt x="789975" y="1328"/>
                  </a:lnTo>
                  <a:cubicBezTo>
                    <a:pt x="804840" y="1354"/>
                    <a:pt x="816868" y="13425"/>
                    <a:pt x="816842" y="28289"/>
                  </a:cubicBezTo>
                  <a:lnTo>
                    <a:pt x="814723" y="1242408"/>
                  </a:lnTo>
                  <a:cubicBezTo>
                    <a:pt x="814697" y="1257272"/>
                    <a:pt x="802627" y="1269301"/>
                    <a:pt x="787762" y="1269275"/>
                  </a:cubicBezTo>
                  <a:lnTo>
                    <a:pt x="26867" y="1267947"/>
                  </a:lnTo>
                  <a:cubicBezTo>
                    <a:pt x="12003" y="1267921"/>
                    <a:pt x="-26" y="1255850"/>
                    <a:pt x="0" y="1240986"/>
                  </a:cubicBezTo>
                  <a:lnTo>
                    <a:pt x="2119" y="26867"/>
                  </a:lnTo>
                  <a:cubicBezTo>
                    <a:pt x="2145" y="12003"/>
                    <a:pt x="14216" y="-26"/>
                    <a:pt x="29080" y="0"/>
                  </a:cubicBezTo>
                  <a:close/>
                </a:path>
              </a:pathLst>
            </a:custGeom>
            <a:blipFill>
              <a:blip r:embed="rId2"/>
              <a:stretch>
                <a:fillRect l="-4108" t="35" r="-181858" b="-332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8382635"/>
            <a:ext cx="6886575" cy="12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2219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Sahil Singh, Newton School Of Technology Pune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75068"/>
            <a:ext cx="9754495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 strike="noStrike" u="none">
                <a:solidFill>
                  <a:srgbClr val="2219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Online Retail II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95700"/>
            <a:chOff x="0" y="0"/>
            <a:chExt cx="17259300" cy="492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Project Overview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Dataset Description and Objectives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59641"/>
              <a:ext cx="13512134" cy="186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This project utilizes a dataset from UCI, encompassing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392,692 cleaned records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across 43 countries. The goal is to analyze sales trends and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customer behavior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identify growth opportunities.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Business Challenges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Defining core issues and inquiries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78100"/>
            <a:chOff x="0" y="0"/>
            <a:chExt cx="5744662" cy="3437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Purchasing Behavior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purchasing behavior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vital for analyzing how customers interact with products and what influences their buying decisions over time.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606675"/>
            <a:chOff x="0" y="0"/>
            <a:chExt cx="5346700" cy="3475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Revenue Generation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415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which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countries and products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drive revenue helps prioritize efforts on high-performing markets and potential growth opportunities to enhance sales.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578100"/>
            <a:chOff x="0" y="0"/>
            <a:chExt cx="5346700" cy="34374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Customer Engagement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Exploring customer activity timing will allow businesses to target promotions and maximize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engagement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ultimately converting one-time buyers into loyal customers.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Data Cleaning Process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Steps in our ETL methodology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78100"/>
            <a:chOff x="0" y="0"/>
            <a:chExt cx="5744662" cy="3437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Removal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We removed cancellations and records missing Customer IDs, which comprised approximately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25%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the dataset, ensuring cleaner data for accurate analysis.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78100"/>
            <a:chOff x="0" y="0"/>
            <a:chExt cx="53467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Price Filtering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5346700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Zero or negative prices, along with returns, were filtered out to maintain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 integrity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ensure only valid transactions contributed to the analysis.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578100"/>
            <a:chOff x="0" y="0"/>
            <a:chExt cx="5346700" cy="34374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Extraction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We extracted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Month, Day,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Hour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from invoice timestamps, facilitating a better temporal analysis of sales trends and customer behavior across different times.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Key Performance Indicators Overview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71875"/>
              <a:ext cx="130175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our core sales metrics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8245475"/>
            <a:ext cx="8324850" cy="137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highlights essential KPIs, including </a:t>
            </a:r>
            <a:r>
              <a:rPr lang="en-US" b="true" sz="2499" spc="-3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total revenue</a:t>
            </a: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total orders, which are crucial for evaluating our online retail performance and identifying growth trends.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9890" t="-69453" r="0" b="-3896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216000">
              <a:off x="-33975" y="-43707"/>
              <a:ext cx="1552332" cy="1271248"/>
            </a:xfrm>
            <a:custGeom>
              <a:avLst/>
              <a:gdLst/>
              <a:ahLst/>
              <a:cxnLst/>
              <a:rect r="r" b="b" t="t" l="l"/>
              <a:pathLst>
                <a:path h="1271248" w="1552332">
                  <a:moveTo>
                    <a:pt x="26636" y="89693"/>
                  </a:moveTo>
                  <a:lnTo>
                    <a:pt x="1451362" y="57"/>
                  </a:lnTo>
                  <a:cubicBezTo>
                    <a:pt x="1467027" y="-929"/>
                    <a:pt x="1480525" y="10971"/>
                    <a:pt x="1481510" y="26636"/>
                  </a:cubicBezTo>
                  <a:lnTo>
                    <a:pt x="1552275" y="1151407"/>
                  </a:lnTo>
                  <a:cubicBezTo>
                    <a:pt x="1553260" y="1167072"/>
                    <a:pt x="1541361" y="1180570"/>
                    <a:pt x="1525696" y="1181555"/>
                  </a:cubicBezTo>
                  <a:lnTo>
                    <a:pt x="100970" y="1271192"/>
                  </a:lnTo>
                  <a:cubicBezTo>
                    <a:pt x="93447" y="1271665"/>
                    <a:pt x="86045" y="1269130"/>
                    <a:pt x="80391" y="1264146"/>
                  </a:cubicBezTo>
                  <a:cubicBezTo>
                    <a:pt x="74737" y="1259161"/>
                    <a:pt x="71295" y="1252135"/>
                    <a:pt x="70822" y="1244613"/>
                  </a:cubicBezTo>
                  <a:lnTo>
                    <a:pt x="57" y="119841"/>
                  </a:lnTo>
                  <a:cubicBezTo>
                    <a:pt x="-928" y="104176"/>
                    <a:pt x="10972" y="90679"/>
                    <a:pt x="26636" y="89693"/>
                  </a:cubicBezTo>
                  <a:close/>
                </a:path>
              </a:pathLst>
            </a:custGeom>
            <a:blipFill>
              <a:blip r:embed="rId3"/>
              <a:stretch>
                <a:fillRect l="-4639" t="-17011" r="-39718" b="-433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Customer-Related KPIs Overview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71875"/>
              <a:ext cx="130175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Insights into Unique Customers and AOV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07325"/>
            <a:ext cx="8324850" cy="18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section, we explore our </a:t>
            </a:r>
            <a:r>
              <a:rPr lang="en-US" b="true" sz="2499" spc="-37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customer-related key performance indicators</a:t>
            </a:r>
            <a:r>
              <a:rPr lang="en-US" sz="2499" spc="-3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highlighting unique customers and average order value, which are crucial for understanding purchasing behavior.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-24000">
              <a:off x="-3029" y="-3894"/>
              <a:ext cx="1181627" cy="936354"/>
            </a:xfrm>
            <a:custGeom>
              <a:avLst/>
              <a:gdLst/>
              <a:ahLst/>
              <a:cxnLst/>
              <a:rect r="r" b="b" t="t" l="l"/>
              <a:pathLst>
                <a:path h="936354" w="1181627">
                  <a:moveTo>
                    <a:pt x="34703" y="0"/>
                  </a:moveTo>
                  <a:lnTo>
                    <a:pt x="1153405" y="7810"/>
                  </a:lnTo>
                  <a:cubicBezTo>
                    <a:pt x="1160943" y="7863"/>
                    <a:pt x="1168150" y="10908"/>
                    <a:pt x="1173442" y="16274"/>
                  </a:cubicBezTo>
                  <a:cubicBezTo>
                    <a:pt x="1178735" y="21641"/>
                    <a:pt x="1181679" y="28891"/>
                    <a:pt x="1181626" y="36428"/>
                  </a:cubicBezTo>
                  <a:lnTo>
                    <a:pt x="1175540" y="908132"/>
                  </a:lnTo>
                  <a:cubicBezTo>
                    <a:pt x="1175431" y="923827"/>
                    <a:pt x="1162618" y="936462"/>
                    <a:pt x="1146923" y="936352"/>
                  </a:cubicBezTo>
                  <a:lnTo>
                    <a:pt x="28221" y="928542"/>
                  </a:lnTo>
                  <a:cubicBezTo>
                    <a:pt x="12526" y="928433"/>
                    <a:pt x="-109" y="915620"/>
                    <a:pt x="0" y="899925"/>
                  </a:cubicBezTo>
                  <a:lnTo>
                    <a:pt x="6086" y="28221"/>
                  </a:lnTo>
                  <a:cubicBezTo>
                    <a:pt x="6196" y="12525"/>
                    <a:pt x="19008" y="-109"/>
                    <a:pt x="34703" y="0"/>
                  </a:cubicBezTo>
                  <a:close/>
                </a:path>
              </a:pathLst>
            </a:custGeom>
            <a:blipFill>
              <a:blip r:embed="rId2"/>
              <a:stretch>
                <a:fillRect l="-19920" t="-1145" r="-347" b="2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30000">
              <a:off x="-4890" y="-6207"/>
              <a:ext cx="1494163" cy="1196249"/>
            </a:xfrm>
            <a:custGeom>
              <a:avLst/>
              <a:gdLst/>
              <a:ahLst/>
              <a:cxnLst/>
              <a:rect r="r" b="b" t="t" l="l"/>
              <a:pathLst>
                <a:path h="1196249" w="1494163">
                  <a:moveTo>
                    <a:pt x="28171" y="12458"/>
                  </a:moveTo>
                  <a:lnTo>
                    <a:pt x="1455660" y="1"/>
                  </a:lnTo>
                  <a:cubicBezTo>
                    <a:pt x="1471355" y="-136"/>
                    <a:pt x="1484190" y="12476"/>
                    <a:pt x="1484327" y="28171"/>
                  </a:cubicBezTo>
                  <a:lnTo>
                    <a:pt x="1494161" y="1155124"/>
                  </a:lnTo>
                  <a:cubicBezTo>
                    <a:pt x="1494298" y="1170819"/>
                    <a:pt x="1481686" y="1183653"/>
                    <a:pt x="1465991" y="1183790"/>
                  </a:cubicBezTo>
                  <a:lnTo>
                    <a:pt x="38502" y="1196248"/>
                  </a:lnTo>
                  <a:cubicBezTo>
                    <a:pt x="30965" y="1196314"/>
                    <a:pt x="23711" y="1193383"/>
                    <a:pt x="18335" y="1188100"/>
                  </a:cubicBezTo>
                  <a:cubicBezTo>
                    <a:pt x="12959" y="1182817"/>
                    <a:pt x="9901" y="1175614"/>
                    <a:pt x="9836" y="1168077"/>
                  </a:cubicBezTo>
                  <a:lnTo>
                    <a:pt x="1" y="41125"/>
                  </a:lnTo>
                  <a:cubicBezTo>
                    <a:pt x="-136" y="25430"/>
                    <a:pt x="12476" y="12595"/>
                    <a:pt x="28171" y="12458"/>
                  </a:cubicBezTo>
                  <a:close/>
                </a:path>
              </a:pathLst>
            </a:custGeom>
            <a:blipFill>
              <a:blip r:embed="rId3"/>
              <a:stretch>
                <a:fillRect l="-77735" t="-1118" r="-12814" b="-925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593F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48000">
              <a:off x="-9372" y="-8457"/>
              <a:ext cx="1239617" cy="1367881"/>
            </a:xfrm>
            <a:custGeom>
              <a:avLst/>
              <a:gdLst/>
              <a:ahLst/>
              <a:cxnLst/>
              <a:rect r="r" b="b" t="t" l="l"/>
              <a:pathLst>
                <a:path h="1367881" w="1239617">
                  <a:moveTo>
                    <a:pt x="0" y="17046"/>
                  </a:moveTo>
                  <a:lnTo>
                    <a:pt x="1220755" y="0"/>
                  </a:lnTo>
                  <a:lnTo>
                    <a:pt x="1239617" y="1350835"/>
                  </a:lnTo>
                  <a:lnTo>
                    <a:pt x="18863" y="1367881"/>
                  </a:lnTo>
                  <a:close/>
                </a:path>
              </a:pathLst>
            </a:custGeom>
            <a:blipFill>
              <a:blip r:embed="rId2"/>
              <a:stretch>
                <a:fillRect l="-195424" t="-7799" r="-30457" b="-257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Revenue Trends Over 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407275"/>
            <a:ext cx="6886575" cy="221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revenue trends from January to December reveal </a:t>
            </a:r>
            <a:r>
              <a:rPr lang="en-US" b="true" sz="2499" spc="-37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seasonal patterns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 a peak in November, highlighting periods of increased customer activity and opportunities for targeted marketing strategies in future campaigns.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3" id="3"/>
            <p:cNvSpPr/>
            <p:nvPr/>
          </p:nvSpPr>
          <p:spPr>
            <a:xfrm flipH="false" flipV="false" rot="-24000">
              <a:off x="-3029" y="-3894"/>
              <a:ext cx="1181627" cy="936354"/>
            </a:xfrm>
            <a:custGeom>
              <a:avLst/>
              <a:gdLst/>
              <a:ahLst/>
              <a:cxnLst/>
              <a:rect r="r" b="b" t="t" l="l"/>
              <a:pathLst>
                <a:path h="936354" w="1181627">
                  <a:moveTo>
                    <a:pt x="34703" y="0"/>
                  </a:moveTo>
                  <a:lnTo>
                    <a:pt x="1153405" y="7810"/>
                  </a:lnTo>
                  <a:cubicBezTo>
                    <a:pt x="1160943" y="7863"/>
                    <a:pt x="1168150" y="10908"/>
                    <a:pt x="1173442" y="16274"/>
                  </a:cubicBezTo>
                  <a:cubicBezTo>
                    <a:pt x="1178735" y="21641"/>
                    <a:pt x="1181679" y="28891"/>
                    <a:pt x="1181626" y="36428"/>
                  </a:cubicBezTo>
                  <a:lnTo>
                    <a:pt x="1175540" y="908132"/>
                  </a:lnTo>
                  <a:cubicBezTo>
                    <a:pt x="1175431" y="923827"/>
                    <a:pt x="1162618" y="936462"/>
                    <a:pt x="1146923" y="936352"/>
                  </a:cubicBezTo>
                  <a:lnTo>
                    <a:pt x="28221" y="928542"/>
                  </a:lnTo>
                  <a:cubicBezTo>
                    <a:pt x="12526" y="928433"/>
                    <a:pt x="-109" y="915620"/>
                    <a:pt x="0" y="899925"/>
                  </a:cubicBezTo>
                  <a:lnTo>
                    <a:pt x="6086" y="28221"/>
                  </a:lnTo>
                  <a:cubicBezTo>
                    <a:pt x="6196" y="12525"/>
                    <a:pt x="19008" y="-109"/>
                    <a:pt x="34703" y="0"/>
                  </a:cubicBezTo>
                  <a:close/>
                </a:path>
              </a:pathLst>
            </a:custGeom>
            <a:blipFill>
              <a:blip r:embed="rId2"/>
              <a:stretch>
                <a:fillRect l="-5608" t="-17" r="-22419" b="-7625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5" id="5"/>
            <p:cNvSpPr/>
            <p:nvPr/>
          </p:nvSpPr>
          <p:spPr>
            <a:xfrm flipH="false" flipV="false" rot="-30000">
              <a:off x="-4890" y="-6207"/>
              <a:ext cx="1494163" cy="1196249"/>
            </a:xfrm>
            <a:custGeom>
              <a:avLst/>
              <a:gdLst/>
              <a:ahLst/>
              <a:cxnLst/>
              <a:rect r="r" b="b" t="t" l="l"/>
              <a:pathLst>
                <a:path h="1196249" w="1494163">
                  <a:moveTo>
                    <a:pt x="38502" y="1"/>
                  </a:moveTo>
                  <a:lnTo>
                    <a:pt x="1465991" y="12458"/>
                  </a:lnTo>
                  <a:cubicBezTo>
                    <a:pt x="1481686" y="12595"/>
                    <a:pt x="1494298" y="25430"/>
                    <a:pt x="1494161" y="41125"/>
                  </a:cubicBezTo>
                  <a:lnTo>
                    <a:pt x="1484327" y="1168077"/>
                  </a:lnTo>
                  <a:cubicBezTo>
                    <a:pt x="1484190" y="1183772"/>
                    <a:pt x="1471355" y="1196385"/>
                    <a:pt x="1455660" y="1196248"/>
                  </a:cubicBezTo>
                  <a:lnTo>
                    <a:pt x="28171" y="1183790"/>
                  </a:lnTo>
                  <a:cubicBezTo>
                    <a:pt x="20634" y="1183724"/>
                    <a:pt x="13432" y="1180667"/>
                    <a:pt x="8149" y="1175291"/>
                  </a:cubicBezTo>
                  <a:cubicBezTo>
                    <a:pt x="2866" y="1169915"/>
                    <a:pt x="-65" y="1162661"/>
                    <a:pt x="1" y="1155124"/>
                  </a:cubicBezTo>
                  <a:lnTo>
                    <a:pt x="9836" y="28171"/>
                  </a:lnTo>
                  <a:cubicBezTo>
                    <a:pt x="9973" y="12476"/>
                    <a:pt x="22807" y="-136"/>
                    <a:pt x="38502" y="1"/>
                  </a:cubicBezTo>
                  <a:close/>
                </a:path>
              </a:pathLst>
            </a:custGeom>
            <a:blipFill>
              <a:blip r:embed="rId3"/>
              <a:stretch>
                <a:fillRect l="-60198" t="-3318" r="-36115" b="-518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Geographic Revenue Distribution Insights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571875"/>
              <a:ext cx="130175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Revenue breakdown by country and market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457450"/>
            <a:chOff x="0" y="0"/>
            <a:chExt cx="4816593" cy="647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647230"/>
            </a:xfrm>
            <a:custGeom>
              <a:avLst/>
              <a:gdLst/>
              <a:ahLst/>
              <a:cxnLst/>
              <a:rect r="r" b="b" t="t" l="l"/>
              <a:pathLst>
                <a:path h="6472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FFB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3352800"/>
            <a:ext cx="11201400" cy="6267450"/>
            <a:chOff x="0" y="0"/>
            <a:chExt cx="1471052" cy="823089"/>
          </a:xfrm>
        </p:grpSpPr>
        <p:sp>
          <p:nvSpPr>
            <p:cNvPr name="Freeform 6" id="6"/>
            <p:cNvSpPr/>
            <p:nvPr/>
          </p:nvSpPr>
          <p:spPr>
            <a:xfrm flipH="false" flipV="false" rot="-48000">
              <a:off x="-5483" y="-10038"/>
              <a:ext cx="1482018" cy="843164"/>
            </a:xfrm>
            <a:custGeom>
              <a:avLst/>
              <a:gdLst/>
              <a:ahLst/>
              <a:cxnLst/>
              <a:rect r="r" b="b" t="t" l="l"/>
              <a:pathLst>
                <a:path h="843164" w="1482018">
                  <a:moveTo>
                    <a:pt x="25123" y="2"/>
                  </a:moveTo>
                  <a:lnTo>
                    <a:pt x="1468388" y="20155"/>
                  </a:lnTo>
                  <a:cubicBezTo>
                    <a:pt x="1472054" y="20206"/>
                    <a:pt x="1475549" y="21711"/>
                    <a:pt x="1478105" y="24339"/>
                  </a:cubicBezTo>
                  <a:cubicBezTo>
                    <a:pt x="1480661" y="26968"/>
                    <a:pt x="1482068" y="30504"/>
                    <a:pt x="1482017" y="34169"/>
                  </a:cubicBezTo>
                  <a:lnTo>
                    <a:pt x="1470911" y="829534"/>
                  </a:lnTo>
                  <a:cubicBezTo>
                    <a:pt x="1470859" y="833200"/>
                    <a:pt x="1469354" y="836695"/>
                    <a:pt x="1466726" y="839251"/>
                  </a:cubicBezTo>
                  <a:cubicBezTo>
                    <a:pt x="1464097" y="841807"/>
                    <a:pt x="1460561" y="843214"/>
                    <a:pt x="1456896" y="843163"/>
                  </a:cubicBezTo>
                  <a:lnTo>
                    <a:pt x="13630" y="823010"/>
                  </a:lnTo>
                  <a:cubicBezTo>
                    <a:pt x="9965" y="822959"/>
                    <a:pt x="6469" y="821454"/>
                    <a:pt x="3913" y="818825"/>
                  </a:cubicBezTo>
                  <a:cubicBezTo>
                    <a:pt x="1358" y="816197"/>
                    <a:pt x="-50" y="812661"/>
                    <a:pt x="2" y="808995"/>
                  </a:cubicBezTo>
                  <a:lnTo>
                    <a:pt x="11108" y="13630"/>
                  </a:lnTo>
                  <a:cubicBezTo>
                    <a:pt x="11159" y="9965"/>
                    <a:pt x="12664" y="6469"/>
                    <a:pt x="15293" y="3913"/>
                  </a:cubicBezTo>
                  <a:cubicBezTo>
                    <a:pt x="17921" y="1358"/>
                    <a:pt x="21457" y="-50"/>
                    <a:pt x="25123" y="2"/>
                  </a:cubicBezTo>
                  <a:close/>
                </a:path>
              </a:pathLst>
            </a:custGeom>
            <a:blipFill>
              <a:blip r:embed="rId2"/>
              <a:stretch>
                <a:fillRect l="-682" t="-17439" r="-1801" b="-279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72950" y="3352800"/>
            <a:ext cx="5448300" cy="6267450"/>
            <a:chOff x="0" y="0"/>
            <a:chExt cx="715512" cy="8230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5512" cy="823089"/>
            </a:xfrm>
            <a:custGeom>
              <a:avLst/>
              <a:gdLst/>
              <a:ahLst/>
              <a:cxnLst/>
              <a:rect r="r" b="b" t="t" l="l"/>
              <a:pathLst>
                <a:path h="823089" w="715512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95878" t="0" r="-16308" b="-536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 spc="-240">
                <a:solidFill>
                  <a:srgbClr val="221900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Top Revenue-Generating Products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593F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-32975" t="-1010" r="-34343" b="8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Customer Behavior by Shopping Hours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845425"/>
            <a:ext cx="6886575" cy="177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Analysis reveals that </a:t>
            </a:r>
            <a:r>
              <a:rPr lang="en-US" b="true" sz="2499" spc="-37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90% of transactions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occur between 8 AM and 6 PM, with peak activity at noon. This indicates a clear preference for purchasing during traditional business hours.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FB8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689600"/>
            <a:chOff x="0" y="0"/>
            <a:chExt cx="13017500" cy="7586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196975"/>
              <a:ext cx="13017500" cy="6389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2219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statistical analysis reveals vital insights into sales and customer behavior: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2219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Total Price: mean $23.57, median $11.80 (right-skewed)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2219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High standard deviation of $309.4 indicates variability and outliers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2219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Positive correlation (r=0.68) observed between quantity and total price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2219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Notable bimodal order frequency highlights heavy wholesale buyers versus light buyers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2219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These findings suggest that optimizing product offerings and addressing the needs of different customer segments could enhance overall sales performance and customer satisfaction.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3017500" cy="66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2219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Observations from Statistical Analysis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57600"/>
            <a:chOff x="0" y="0"/>
            <a:chExt cx="17259300" cy="48768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Customer Purchase Behavior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Insights on order frequency and value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59641"/>
              <a:ext cx="13512134" cy="18171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 average, customers place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6.3 orders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with most making only 1-3. A small segment, however, places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20 or more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indicating a strong wholesale customer base.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695700"/>
            <a:chOff x="0" y="0"/>
            <a:chExt cx="17259300" cy="4927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Revenue Trends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Seasonal Patterns and Outlier Impact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59641"/>
              <a:ext cx="13512134" cy="1867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November exhibits a significant revenue peak, showing trends of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high demand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Outliers from bulk orders highlight the need for targeted strategies to enhance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overall sales performance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Key Insights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Major findings from the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25675"/>
            <a:chOff x="0" y="0"/>
            <a:chExt cx="7670800" cy="2967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6708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UK Dominance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7670800" cy="1907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UK accounts for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82% of total revenue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showcasing its significance in the overall sales strategy and highlighting the need for focused marketing efforts in this region.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225675"/>
            <a:chOff x="0" y="0"/>
            <a:chExt cx="72644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November Peak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7264400" cy="1907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November is the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peak month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with revenue exceeding $2M, indicating a critical opportunity for targeted promotions and strategic inventory management to maximize sales during this period.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Key Insights — Part 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Additional findings on sales dynamics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25675"/>
            <a:chOff x="0" y="0"/>
            <a:chExt cx="7670800" cy="2967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76708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Product Revenue Concentration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7670800" cy="1907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small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subset of products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drives the majority of revenue, indicating that focusing on these high-performing items could significantly enhance profitability and inventory efficiency.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225675"/>
            <a:chOff x="0" y="0"/>
            <a:chExt cx="72644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72644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Customer Retention Opportunities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60450"/>
              <a:ext cx="7264400" cy="19071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There is a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large untapped potential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retaining customers, as over 5,800 unique customers exist, suggesting targeted marketing efforts could greatly improve loyalty and repeat purchases.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Business Recommendations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Strategies to Enhance Revenue Growth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78100"/>
            <a:chOff x="0" y="0"/>
            <a:chExt cx="5744662" cy="3437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Early-Bird Campaign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77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Launch a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Q4 Early-Bird Campaign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starting in October to boost sales by 15-20%, potentially generating an additional $300K-$400K in revenue through targeted promotions.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3330575"/>
            <a:chOff x="0" y="0"/>
            <a:chExt cx="5346700" cy="44407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Dedicated Account Managers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93850"/>
              <a:ext cx="5346700" cy="2846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Assign dedicated account managers for the Netherlands and EIRE markets, which could help grow sales and achieve an estimated uplift of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$350K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through personalized customer engagement.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330575"/>
            <a:chOff x="0" y="0"/>
            <a:chExt cx="5346700" cy="44407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Scheduled Marketing Campaigns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593850"/>
              <a:ext cx="5346700" cy="2846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Schedule marketing campaigns during peak hours of 10am-12pm GMT to improve customer engagement by </a:t>
              </a:r>
              <a:r>
                <a:rPr lang="en-US" b="true" sz="2000" spc="-30" strike="noStrike" u="none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10-15%</a:t>
              </a: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increasing both reach and conversion rates for product promotions.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Business Recommendations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87687"/>
              <a:ext cx="176657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Strategies to Enhance Revenue Growth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549525"/>
            <a:chOff x="0" y="0"/>
            <a:chExt cx="5744662" cy="33993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0"/>
              <a:ext cx="5744662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Early-Bird Campaign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60450"/>
              <a:ext cx="5744662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Launching a Q4 Early-Bird Campaign in October could increase sales by 15-20%, generating an uplift of approximately $300K to $400K for the business.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49575"/>
            <a:chOff x="0" y="0"/>
            <a:chExt cx="5346700" cy="39327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0"/>
              <a:ext cx="5346700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Dedicated Account Managers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93850"/>
              <a:ext cx="5346700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Assigning dedicated account managers for the Netherlands and EIRE markets is essential to drive growth, potentially resulting in an uplift of around $350K in revenue.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549525"/>
            <a:chOff x="0" y="0"/>
            <a:chExt cx="5346700" cy="3399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0"/>
              <a:ext cx="5346700" cy="533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Auto-Reorder Triggers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60450"/>
              <a:ext cx="5346700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Implementing auto-reorder triggers for the top 10 products could prevent lost sales estimated between $50K and $100K, enhancing customer retention and satisfaction.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E2520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4933950"/>
            <a:chOff x="0" y="0"/>
            <a:chExt cx="17259300" cy="65786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34554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FFFFFF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Limitations and Future Directions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3940287"/>
              <a:ext cx="17259300" cy="568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Constraints and potential next steps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12241"/>
              <a:ext cx="13512134" cy="1766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Key limitations include </a:t>
              </a:r>
              <a:r>
                <a:rPr lang="en-US" b="true" sz="2499" spc="-37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missing customer IDs</a:t>
              </a:r>
              <a:r>
                <a:rPr lang="en-US" sz="2499" spc="-37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affecting analysis and a dataset that may not represent current trends. Future work could explore RFM segmentation and integration of live inventory data.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593F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-77999">
              <a:off x="-15168" y="-13675"/>
              <a:ext cx="1251209" cy="1378317"/>
            </a:xfrm>
            <a:custGeom>
              <a:avLst/>
              <a:gdLst/>
              <a:ahLst/>
              <a:cxnLst/>
              <a:rect r="r" b="b" t="t" l="l"/>
              <a:pathLst>
                <a:path h="1378317" w="1251209">
                  <a:moveTo>
                    <a:pt x="30650" y="0"/>
                  </a:moveTo>
                  <a:lnTo>
                    <a:pt x="1251209" y="27698"/>
                  </a:lnTo>
                  <a:lnTo>
                    <a:pt x="1220559" y="1378317"/>
                  </a:lnTo>
                  <a:lnTo>
                    <a:pt x="0" y="1350618"/>
                  </a:lnTo>
                  <a:close/>
                </a:path>
              </a:pathLst>
            </a:custGeom>
            <a:blipFill>
              <a:blip r:embed="rId2"/>
              <a:stretch>
                <a:fillRect l="-42383" t="-3893" r="-30491" b="-66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Complete Dashboard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7807325"/>
            <a:ext cx="6886575" cy="181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full dashboard provides a </a:t>
            </a:r>
            <a:r>
              <a:rPr lang="en-US" b="true" sz="2499" spc="-37" strike="noStrike" u="non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comprehensive view</a:t>
            </a:r>
            <a:r>
              <a:rPr lang="en-US" sz="2499" spc="-37" strike="noStrike" u="non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of our sales data, allowing for deeper insights into performance metrics, customer behavior, and opportunities to drive growth in online retail sales.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93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FFB8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-92452" t="0" r="-9245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01760"/>
            <a:ext cx="8324850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Your feedback is greatly appreciated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Online Retail II</dc:description>
  <dc:identifier>DAHIJP51u58</dc:identifier>
  <dcterms:modified xsi:type="dcterms:W3CDTF">2011-08-01T06:04:30Z</dcterms:modified>
  <cp:revision>1</cp:revision>
  <dc:title>Presentation - Online Retail II</dc:title>
</cp:coreProperties>
</file>